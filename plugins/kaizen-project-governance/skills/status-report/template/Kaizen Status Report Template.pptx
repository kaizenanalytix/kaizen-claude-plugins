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7" r:id="rId5"/>
    <p:sldId id="2007577769" r:id="rId6"/>
    <p:sldId id="20075777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111FC-8398-9AFC-E563-66303D88D8E7}" v="37" dt="2022-07-27T20:26:01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EAD56DB-EC4B-6A19-2F8A-555D961BF741}"/>
              </a:ext>
            </a:extLst>
          </p:cNvPr>
          <p:cNvSpPr/>
          <p:nvPr/>
        </p:nvSpPr>
        <p:spPr>
          <a:xfrm>
            <a:off x="0" y="0"/>
            <a:ext cx="8110329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A2680330-DEC2-AE0E-BFC5-602F636F0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3" y="553823"/>
            <a:ext cx="1130834" cy="758546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B25D2B3-7290-E612-461F-9907CE939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5" y="4458737"/>
            <a:ext cx="7179136" cy="137276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9A2A24-E3BD-8EA9-547E-1133AD5A3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5" y="1580321"/>
            <a:ext cx="7179136" cy="2693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3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ient Title Slide"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EAD56DB-EC4B-6A19-2F8A-555D961BF741}"/>
              </a:ext>
            </a:extLst>
          </p:cNvPr>
          <p:cNvSpPr/>
          <p:nvPr/>
        </p:nvSpPr>
        <p:spPr>
          <a:xfrm>
            <a:off x="0" y="0"/>
            <a:ext cx="5675243" cy="68580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ADD3D-A8CB-4047-897C-0E1F55F25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365" y="4458737"/>
            <a:ext cx="5025887" cy="137276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9607C-634E-4669-BEF4-CEC84AA9E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365" y="1580321"/>
            <a:ext cx="5025887" cy="2693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53D2B74-5DBE-B414-74B8-39D5A063BD7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0694" y="367747"/>
            <a:ext cx="1889125" cy="1027665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Client Logo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82A45AA0-792A-BEED-91F1-A08E64D39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65" y="6261649"/>
            <a:ext cx="1328531" cy="26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9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002081-5FBF-BE06-3126-F24F2C8FE4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F6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D56DB-EC4B-6A19-2F8A-555D961BF741}"/>
              </a:ext>
            </a:extLst>
          </p:cNvPr>
          <p:cNvSpPr/>
          <p:nvPr/>
        </p:nvSpPr>
        <p:spPr>
          <a:xfrm>
            <a:off x="1239520" y="3423920"/>
            <a:ext cx="5638358" cy="3434081"/>
          </a:xfrm>
          <a:prstGeom prst="rect">
            <a:avLst/>
          </a:prstGeom>
          <a:solidFill>
            <a:schemeClr val="bg1">
              <a:alpha val="9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ADD3D-A8CB-4047-897C-0E1F55F25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85182"/>
            <a:ext cx="2789584" cy="805069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9607C-634E-4669-BEF4-CEC84AA9E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27174"/>
            <a:ext cx="5025887" cy="17989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E9579-AFFE-7DC6-B86A-7C0122441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7127" y="5887981"/>
            <a:ext cx="897746" cy="60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2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C417B-4BFF-4A16-98EB-3F85B1D0FF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0770" y="1630363"/>
            <a:ext cx="7307263" cy="4465637"/>
          </a:xfrm>
        </p:spPr>
        <p:txBody>
          <a:bodyPr anchor="t">
            <a:normAutofit/>
          </a:bodyPr>
          <a:lstStyle>
            <a:lvl1pPr>
              <a:spcBef>
                <a:spcPts val="20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ts val="200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ts val="20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ts val="20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ts val="20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Agenda. Write out a list of agenda items, then add a gold outlined curved rectangle to demonstrate where you are on the agenda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663" y="583991"/>
            <a:ext cx="5922172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Suggest writing “Agenda”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0663" y="249782"/>
            <a:ext cx="5922172" cy="4222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This is an Agenda Slide. I suggest writing “Welcome”</a:t>
            </a:r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B3CB2096-0818-4B72-B156-BBD317BC46E1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9" name="Picture 8" descr="Looking up view of tall buildings&#10;&#10;Description automatically generated">
            <a:extLst>
              <a:ext uri="{FF2B5EF4-FFF2-40B4-BE49-F238E27FC236}">
                <a16:creationId xmlns:a16="http://schemas.microsoft.com/office/drawing/2014/main" id="{2B32D060-BB86-E3FE-DA2C-EB4FEB6D71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7" r="7676"/>
          <a:stretch/>
        </p:blipFill>
        <p:spPr>
          <a:xfrm>
            <a:off x="0" y="-3926"/>
            <a:ext cx="4170254" cy="6865852"/>
          </a:xfrm>
          <a:prstGeom prst="rect">
            <a:avLst/>
          </a:prstGeom>
        </p:spPr>
      </p:pic>
      <p:pic>
        <p:nvPicPr>
          <p:cNvPr id="3" name="Picture 2" descr="A black and grey logo&#10;&#10;Description automatically generated">
            <a:extLst>
              <a:ext uri="{FF2B5EF4-FFF2-40B4-BE49-F238E27FC236}">
                <a16:creationId xmlns:a16="http://schemas.microsoft.com/office/drawing/2014/main" id="{52772B7B-5BDE-8237-8DEF-DAC92708D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2C5AB21-3EB8-7783-4D01-B1EF5E66D43F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102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title, and Blank Sp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6E7EDB9-0084-4E7E-23C5-CF047153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1F8A2160-5D6D-4F37-B102-667010D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AE023-7864-539E-EF31-0CB935DCF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2446E7-3608-0DAA-3254-1695B8FB0065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AC791881-5F59-7223-5F4E-37E3A7327C4B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F2DC877-E1D5-AD28-10C1-D572F553ABDB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70104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E05A37-C8CF-2AC0-D4E3-16EA27CC33E8}"/>
              </a:ext>
            </a:extLst>
          </p:cNvPr>
          <p:cNvSpPr/>
          <p:nvPr/>
        </p:nvSpPr>
        <p:spPr>
          <a:xfrm>
            <a:off x="0" y="-1"/>
            <a:ext cx="12192000" cy="10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ptos" panose="020B00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702B66-FE02-3A45-02E7-06D5C6451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78A7F26-6FCD-BD8C-B0F5-E99A5DD6AE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3851F7-3E4C-C5F9-BA39-58E5C56F9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D08EDB-0B19-5652-A477-CB3B9070E338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A1660FAB-01F3-54A6-D136-6A82CC95E9A3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AE2ED-F442-61F8-7F9B-27D1700A1124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395804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4F8A57-04A0-797C-8E4E-506E81582B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805"/>
            <a:ext cx="11309912" cy="495768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8DA2B9F-6EC1-1642-3F29-A3E756C9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75FD0BB-7EE2-C831-73E1-CC2B97B50D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DA5CA6-6C4E-87C7-D992-61CBCEA38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669889-4BA8-A023-EF99-A99FE5C2C9F5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A81D7853-239D-D4D2-9FCD-0FB192E3FA99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2F768-B521-FCEF-2784-C67FC7A82452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73205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E086EB-9566-144D-5B74-2C12D43548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722"/>
            <a:ext cx="11329523" cy="4957679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82090D-6E7D-9D93-3D78-473583D76755}"/>
              </a:ext>
            </a:extLst>
          </p:cNvPr>
          <p:cNvSpPr/>
          <p:nvPr/>
        </p:nvSpPr>
        <p:spPr>
          <a:xfrm>
            <a:off x="0" y="-1"/>
            <a:ext cx="12192000" cy="10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ptos" panose="020B00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07534FF-4DCC-3E4F-66F7-5CAA4E205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E18690F-BA5B-FB29-AC01-9589178535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A01127-080D-B64A-57A2-E7E7A3585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C24CBC-67A3-E9FE-9B8B-956481E03F23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14B8311C-3C91-A12E-7B05-5A1D540C87B9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76F65B08-45CA-27AD-1C8C-70108ECE78DD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93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+ Blank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288A49-E82C-390F-1AA4-4B24EBBE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3" y="0"/>
            <a:ext cx="10508106" cy="10685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3DA4C7-6DF2-6016-E069-6D8BD5CEE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2E4866-DBEE-59F4-F45F-0B898952B5B8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6DCF26B-C1C3-4BD1-E6D0-189CC93F96DE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CBF9F79C-85D8-BF9D-E080-2088685157C2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9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+ Blank Space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DC09D6B-6824-339A-4198-9B5D70D11ACC}"/>
              </a:ext>
            </a:extLst>
          </p:cNvPr>
          <p:cNvSpPr/>
          <p:nvPr/>
        </p:nvSpPr>
        <p:spPr>
          <a:xfrm>
            <a:off x="0" y="-1"/>
            <a:ext cx="12192000" cy="10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130D7-D278-0DC9-B38A-E5AC168B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3" y="0"/>
            <a:ext cx="10508106" cy="10685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8C2A7-FA0B-C4D2-A145-C3497198D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03009B-FCF1-2698-1497-F1E5E5417354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93EE046-89F3-DC64-EDCF-F8DFCFFED137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5D82A2B8-9B66-3847-E06D-200354BFC285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37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+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257B-DF65-617A-4E63-6F8ABB7D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3" y="0"/>
            <a:ext cx="10508106" cy="10685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FD611-7CDB-05D8-533D-7F6B426FB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3359CC-462A-33D6-6855-0252CCB9BD99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E8865A2-63F3-E261-09B6-B1B5158D2A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805"/>
            <a:ext cx="11309912" cy="495768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676A7C4-EA0B-CADE-2D8B-6F8C956F23FF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CD86E051-8265-7FDB-A96E-67C5577EEC09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386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+ Text Box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A3AEA83-964D-B6F2-BA8B-59E077D5159C}"/>
              </a:ext>
            </a:extLst>
          </p:cNvPr>
          <p:cNvSpPr/>
          <p:nvPr/>
        </p:nvSpPr>
        <p:spPr>
          <a:xfrm>
            <a:off x="0" y="-1"/>
            <a:ext cx="12192000" cy="10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2B34E-7843-C415-D266-9F0933E0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3" y="0"/>
            <a:ext cx="10508106" cy="106851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9ACF0-8A32-25B5-CAE1-983A7353D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919916-123B-F400-0E95-54A1BA61B632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910A83-4EFF-969C-F81F-09C2D2877F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38" y="1335805"/>
            <a:ext cx="11309912" cy="495768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205CB-47F4-F1BF-6335-D436A97423FC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27FB464D-5CD2-4F99-5FFD-E490896C7378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677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8C35-350E-CE5D-8981-EF798CE55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335805"/>
            <a:ext cx="5181600" cy="493776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E616C89-F787-844F-FCC7-72825F74C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110" y="1335805"/>
            <a:ext cx="5181600" cy="493776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BAF23F-4857-CE23-0C13-352EBAD6B824}"/>
              </a:ext>
            </a:extLst>
          </p:cNvPr>
          <p:cNvCxnSpPr>
            <a:cxnSpLocks/>
          </p:cNvCxnSpPr>
          <p:nvPr/>
        </p:nvCxnSpPr>
        <p:spPr>
          <a:xfrm>
            <a:off x="6096000" y="1365899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420B123-0166-7A44-25CC-B977A3DB2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1F084097-7A7F-B570-680E-586E180FFA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51E7C-5434-4801-2352-047A250D0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99AE70-C2CC-DED6-62CF-C870C9C05327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23616D-E2B3-1D23-AA97-E298D3656FEA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F6382A95-4A91-372B-C87F-67E68610A7BD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77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A6940E-0322-C4B9-F4B4-94719AEEFEB3}"/>
              </a:ext>
            </a:extLst>
          </p:cNvPr>
          <p:cNvCxnSpPr>
            <a:cxnSpLocks/>
          </p:cNvCxnSpPr>
          <p:nvPr/>
        </p:nvCxnSpPr>
        <p:spPr>
          <a:xfrm>
            <a:off x="6096000" y="1365899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99D81-98B9-6E9D-77E0-C12214877ED4}"/>
              </a:ext>
            </a:extLst>
          </p:cNvPr>
          <p:cNvSpPr/>
          <p:nvPr/>
        </p:nvSpPr>
        <p:spPr>
          <a:xfrm>
            <a:off x="0" y="-1"/>
            <a:ext cx="12192000" cy="10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ptos" panose="020B00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864ADF-C15C-FB21-D527-560F2D62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79D356AE-FC84-5257-5B6F-4FEE77DBF7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82A315-5B36-093F-94B5-E821498D0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A02206-C766-2ACE-C3F0-8AFF292A6EC5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E3CDC7-7BF0-BCBB-9856-32B36C7F5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335805"/>
            <a:ext cx="5181600" cy="493776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1451DEE-C4E3-E5E7-31E4-D6EDEFF71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5110" y="1335805"/>
            <a:ext cx="5181600" cy="493776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7DBF6150-A737-8472-5ABE-DE9EB2E16A67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1D09D42B-8300-519D-4B10-88BEF6A29CD1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188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889732"/>
            <a:ext cx="356616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1015" y="1889732"/>
            <a:ext cx="356616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4137992" y="1355807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6EB96F0-9F86-4726-B723-558E8338BF6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06740" y="1889732"/>
            <a:ext cx="356616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8143A-BCD7-4C70-AA09-BE6B9C49A9B2}"/>
              </a:ext>
            </a:extLst>
          </p:cNvPr>
          <p:cNvCxnSpPr>
            <a:cxnSpLocks/>
          </p:cNvCxnSpPr>
          <p:nvPr/>
        </p:nvCxnSpPr>
        <p:spPr>
          <a:xfrm>
            <a:off x="8033047" y="1357978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3BAF4B3-12C4-4E1C-A3CA-E2C30A6390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290" y="1466122"/>
            <a:ext cx="3566159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72D8B86-3856-4B34-B6D6-AD5714F85F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1352" y="1460617"/>
            <a:ext cx="3566159" cy="42256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B51B577-20F7-45C7-8636-FD9E4FBEFD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7413" y="1460617"/>
            <a:ext cx="3565487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B5F6A-80EE-6E30-0CCF-4FF8B7D09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0C4B6DAA-25A2-0701-203A-B47BF3C4D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E482C-AD58-7BB3-03C2-34C7659BC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71FC3F-0A24-258D-5EC9-0F011F0F3C12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ECF921C-607F-CB48-2E9F-D55A54A86286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4D8939CE-BAE9-FE1F-16E0-D139B443324D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89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,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D123CF-F763-4FD8-A55F-2832FC42D792}"/>
              </a:ext>
            </a:extLst>
          </p:cNvPr>
          <p:cNvSpPr/>
          <p:nvPr/>
        </p:nvSpPr>
        <p:spPr>
          <a:xfrm flipV="1"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290" y="1889732"/>
            <a:ext cx="356616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1015" y="1889732"/>
            <a:ext cx="356616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4137992" y="1355807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6EB96F0-9F86-4726-B723-558E8338BF6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06740" y="1889732"/>
            <a:ext cx="3566160" cy="4351338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8143A-BCD7-4C70-AA09-BE6B9C49A9B2}"/>
              </a:ext>
            </a:extLst>
          </p:cNvPr>
          <p:cNvCxnSpPr>
            <a:cxnSpLocks/>
          </p:cNvCxnSpPr>
          <p:nvPr/>
        </p:nvCxnSpPr>
        <p:spPr>
          <a:xfrm>
            <a:off x="8033047" y="1357978"/>
            <a:ext cx="0" cy="493776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3BAF4B3-12C4-4E1C-A3CA-E2C30A6390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5290" y="1466122"/>
            <a:ext cx="3566159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C72D8B86-3856-4B34-B6D6-AD5714F85FB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1352" y="1460617"/>
            <a:ext cx="3566159" cy="42256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CB51B577-20F7-45C7-8636-FD9E4FBEFD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7413" y="1460617"/>
            <a:ext cx="3565487" cy="422275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61963" indent="-4763" algn="ctr">
              <a:buNone/>
              <a:defRPr sz="1800">
                <a:latin typeface="URW DIN Demi" panose="00000700000000000000" pitchFamily="50" charset="0"/>
              </a:defRPr>
            </a:lvl2pPr>
            <a:lvl3pPr marL="914400" indent="0" algn="ctr">
              <a:buNone/>
              <a:defRPr sz="1600">
                <a:latin typeface="URW DIN Demi" panose="00000700000000000000" pitchFamily="50" charset="0"/>
              </a:defRPr>
            </a:lvl3pPr>
            <a:lvl4pPr marL="1376363" indent="-4763" algn="ctr">
              <a:buNone/>
              <a:defRPr sz="1400">
                <a:latin typeface="URW DIN Demi" panose="00000700000000000000" pitchFamily="50" charset="0"/>
              </a:defRPr>
            </a:lvl4pPr>
            <a:lvl5pPr marL="1828800" indent="0" algn="ctr">
              <a:buNone/>
              <a:defRPr sz="1400">
                <a:latin typeface="URW DIN Demi" panose="000007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1D8CE-576A-0CD1-EA6F-0B6EFAE16F75}"/>
              </a:ext>
            </a:extLst>
          </p:cNvPr>
          <p:cNvSpPr/>
          <p:nvPr/>
        </p:nvSpPr>
        <p:spPr>
          <a:xfrm>
            <a:off x="0" y="-1"/>
            <a:ext cx="12192000" cy="1070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ptos" panose="020B00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695B32E-CF56-53B4-E756-4140A8CE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454" y="-55043"/>
            <a:ext cx="10508108" cy="9411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93E9AD5-F084-2092-C158-7F6623242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32454" y="568623"/>
            <a:ext cx="10508108" cy="317519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ED4CEA-3EBA-5409-BD5D-726F323D5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904" y="259935"/>
            <a:ext cx="549532" cy="54864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7E9B70-5A1E-43F7-9B81-1BB33A62D4D4}"/>
              </a:ext>
            </a:extLst>
          </p:cNvPr>
          <p:cNvCxnSpPr>
            <a:cxnSpLocks/>
          </p:cNvCxnSpPr>
          <p:nvPr/>
        </p:nvCxnSpPr>
        <p:spPr>
          <a:xfrm>
            <a:off x="1075445" y="273669"/>
            <a:ext cx="0" cy="55778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F43F2F1-9A86-3D10-7583-85E879CB8371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8936C452-CD4F-31B0-513D-8DF2DC4DF484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39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rd Split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99D3F84-37BF-4EB6-94B2-C43625DCDD45}"/>
              </a:ext>
            </a:extLst>
          </p:cNvPr>
          <p:cNvSpPr/>
          <p:nvPr/>
        </p:nvSpPr>
        <p:spPr>
          <a:xfrm>
            <a:off x="139333" y="6643858"/>
            <a:ext cx="11899813" cy="146304"/>
          </a:xfrm>
          <a:custGeom>
            <a:avLst/>
            <a:gdLst>
              <a:gd name="connsiteX0" fmla="*/ 0 w 11899813"/>
              <a:gd name="connsiteY0" fmla="*/ 0 h 146304"/>
              <a:gd name="connsiteX1" fmla="*/ 10871549 w 11899813"/>
              <a:gd name="connsiteY1" fmla="*/ 0 h 146304"/>
              <a:gd name="connsiteX2" fmla="*/ 10900230 w 11899813"/>
              <a:gd name="connsiteY2" fmla="*/ 23664 h 146304"/>
              <a:gd name="connsiteX3" fmla="*/ 11120094 w 11899813"/>
              <a:gd name="connsiteY3" fmla="*/ 90823 h 146304"/>
              <a:gd name="connsiteX4" fmla="*/ 11339958 w 11899813"/>
              <a:gd name="connsiteY4" fmla="*/ 23664 h 146304"/>
              <a:gd name="connsiteX5" fmla="*/ 11368639 w 11899813"/>
              <a:gd name="connsiteY5" fmla="*/ 0 h 146304"/>
              <a:gd name="connsiteX6" fmla="*/ 11899813 w 11899813"/>
              <a:gd name="connsiteY6" fmla="*/ 0 h 146304"/>
              <a:gd name="connsiteX7" fmla="*/ 11899813 w 11899813"/>
              <a:gd name="connsiteY7" fmla="*/ 146304 h 146304"/>
              <a:gd name="connsiteX8" fmla="*/ 0 w 11899813"/>
              <a:gd name="connsiteY8" fmla="*/ 146304 h 14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99813" h="146304">
                <a:moveTo>
                  <a:pt x="0" y="0"/>
                </a:moveTo>
                <a:lnTo>
                  <a:pt x="10871549" y="0"/>
                </a:lnTo>
                <a:lnTo>
                  <a:pt x="10900230" y="23664"/>
                </a:lnTo>
                <a:cubicBezTo>
                  <a:pt x="10962991" y="66065"/>
                  <a:pt x="11038651" y="90823"/>
                  <a:pt x="11120094" y="90823"/>
                </a:cubicBezTo>
                <a:cubicBezTo>
                  <a:pt x="11201536" y="90823"/>
                  <a:pt x="11277196" y="66065"/>
                  <a:pt x="11339958" y="23664"/>
                </a:cubicBezTo>
                <a:lnTo>
                  <a:pt x="11368639" y="0"/>
                </a:lnTo>
                <a:lnTo>
                  <a:pt x="11899813" y="0"/>
                </a:lnTo>
                <a:lnTo>
                  <a:pt x="11899813" y="146304"/>
                </a:lnTo>
                <a:lnTo>
                  <a:pt x="0" y="14630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E030C6-F263-4926-8C38-C06E3B977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95563" y="6159796"/>
            <a:ext cx="522593" cy="5217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71" y="1357263"/>
            <a:ext cx="4994164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D3C-340E-49A2-8B85-0C4656234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771" y="2053001"/>
            <a:ext cx="4994155" cy="40416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Aptos" panose="020B0004020202020204" pitchFamily="34" charset="0"/>
              </a:defRPr>
            </a:lvl3pPr>
            <a:lvl4pPr marL="13716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4pPr>
            <a:lvl5pPr marL="1828800" indent="0">
              <a:buNone/>
              <a:defRPr sz="1050">
                <a:solidFill>
                  <a:schemeClr val="tx2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771" y="1023054"/>
            <a:ext cx="4994164" cy="4222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B25C78-ABF8-431D-905F-DE67C0864807}"/>
              </a:ext>
            </a:extLst>
          </p:cNvPr>
          <p:cNvCxnSpPr>
            <a:cxnSpLocks/>
          </p:cNvCxnSpPr>
          <p:nvPr/>
        </p:nvCxnSpPr>
        <p:spPr>
          <a:xfrm>
            <a:off x="5602739" y="592554"/>
            <a:ext cx="0" cy="548640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A708B-B439-71BA-B561-A1E4D9B0647A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7" name="Slide Number Placeholder 11">
            <a:extLst>
              <a:ext uri="{FF2B5EF4-FFF2-40B4-BE49-F238E27FC236}">
                <a16:creationId xmlns:a16="http://schemas.microsoft.com/office/drawing/2014/main" id="{4C007CD1-99B7-C994-77EA-FD41BB05E3EF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918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hoto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518" y="245311"/>
            <a:ext cx="6309360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1518" y="630797"/>
            <a:ext cx="6309360" cy="4222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BCBF787-17EA-44B3-93F6-3D0C4DB06F5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1947902" cy="68516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Insert Photo. Premade slides can be accessed in “Stock Photos for PowerPoints” under “PowerPoint Resources”</a:t>
            </a:r>
          </a:p>
          <a:p>
            <a:endParaRPr lang="en-US"/>
          </a:p>
        </p:txBody>
      </p:sp>
      <p:pic>
        <p:nvPicPr>
          <p:cNvPr id="4" name="Picture 3" descr="A black and grey logo&#10;&#10;Description automatically generated">
            <a:extLst>
              <a:ext uri="{FF2B5EF4-FFF2-40B4-BE49-F238E27FC236}">
                <a16:creationId xmlns:a16="http://schemas.microsoft.com/office/drawing/2014/main" id="{A5119FA1-FAA7-F1E7-FE0D-83F31E79F4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0323E8C9-BE9F-0233-9180-6DEAF45C395E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EE7C2912-02BD-7940-9BAF-273FCC2C876F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172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182002E-3A69-41ED-81ED-880BB54B56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59" y="1415123"/>
            <a:ext cx="9336043" cy="31516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50123-EA04-4CE4-968B-4C4C871BE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519" y="245312"/>
            <a:ext cx="6804187" cy="422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A4139A-F6B8-4147-BFEA-D5D24C097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" y="-1"/>
            <a:ext cx="1947902" cy="685799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D058E-CD61-4F39-9E55-7F2715E46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77811" y="4668866"/>
            <a:ext cx="2286000" cy="141891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000">
                <a:latin typeface="Aptos" panose="020B0004020202020204" pitchFamily="34" charset="0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900">
                <a:latin typeface="Aptos" panose="020B0004020202020204" pitchFamily="34" charset="0"/>
              </a:defRPr>
            </a:lvl2pPr>
            <a:lvl3pPr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800">
                <a:latin typeface="Aptos" panose="020B0004020202020204" pitchFamily="34" charset="0"/>
              </a:defRPr>
            </a:lvl3pPr>
            <a:lvl4pPr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700">
                <a:latin typeface="Aptos" panose="020B0004020202020204" pitchFamily="34" charset="0"/>
              </a:defRPr>
            </a:lvl4pPr>
            <a:lvl5pPr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7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69446C-59D0-43CB-9381-66142C70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1519" y="630798"/>
            <a:ext cx="6804187" cy="4222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023E50A-2E4E-4AE9-B249-DB7BFE1DF5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23839" y="4668867"/>
            <a:ext cx="2286000" cy="141922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000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sz="900">
                <a:latin typeface="Aptos" panose="020B0004020202020204" pitchFamily="34" charset="0"/>
              </a:defRPr>
            </a:lvl2pPr>
            <a:lvl3pPr>
              <a:spcAft>
                <a:spcPts val="0"/>
              </a:spcAft>
              <a:defRPr sz="800">
                <a:latin typeface="Aptos" panose="020B0004020202020204" pitchFamily="34" charset="0"/>
              </a:defRPr>
            </a:lvl3pPr>
            <a:lvl4pPr>
              <a:spcAft>
                <a:spcPts val="0"/>
              </a:spcAft>
              <a:defRPr sz="700">
                <a:latin typeface="Aptos" panose="020B0004020202020204" pitchFamily="34" charset="0"/>
              </a:defRPr>
            </a:lvl4pPr>
            <a:lvl5pPr>
              <a:spcAft>
                <a:spcPts val="0"/>
              </a:spcAft>
              <a:defRPr sz="7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1A24BFD-8746-417F-B50F-7E54C8ADC8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69827" y="4668867"/>
            <a:ext cx="2286000" cy="1419225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000">
                <a:latin typeface="Aptos" panose="020B0004020202020204" pitchFamily="34" charset="0"/>
              </a:defRPr>
            </a:lvl1pPr>
            <a:lvl2pPr>
              <a:spcAft>
                <a:spcPts val="0"/>
              </a:spcAft>
              <a:defRPr sz="900">
                <a:latin typeface="Aptos" panose="020B0004020202020204" pitchFamily="34" charset="0"/>
              </a:defRPr>
            </a:lvl2pPr>
            <a:lvl3pPr>
              <a:spcAft>
                <a:spcPts val="0"/>
              </a:spcAft>
              <a:defRPr sz="800">
                <a:latin typeface="Aptos" panose="020B0004020202020204" pitchFamily="34" charset="0"/>
              </a:defRPr>
            </a:lvl3pPr>
            <a:lvl4pPr>
              <a:spcAft>
                <a:spcPts val="0"/>
              </a:spcAft>
              <a:defRPr sz="700">
                <a:latin typeface="Aptos" panose="020B0004020202020204" pitchFamily="34" charset="0"/>
              </a:defRPr>
            </a:lvl4pPr>
            <a:lvl5pPr>
              <a:spcAft>
                <a:spcPts val="0"/>
              </a:spcAft>
              <a:defRPr sz="7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89676D-9FA2-448E-B236-DB646A9F354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682717" y="1644503"/>
            <a:ext cx="1552354" cy="1431851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 marL="457206" indent="0" algn="ctr">
              <a:buNone/>
              <a:defRPr>
                <a:solidFill>
                  <a:schemeClr val="bg1"/>
                </a:solidFill>
                <a:latin typeface="URW DIN Demi" panose="00000700000000000000" pitchFamily="50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D1AFC4-BEC9-47D6-ADF2-71F176B348BB}"/>
              </a:ext>
            </a:extLst>
          </p:cNvPr>
          <p:cNvCxnSpPr>
            <a:cxnSpLocks/>
          </p:cNvCxnSpPr>
          <p:nvPr/>
        </p:nvCxnSpPr>
        <p:spPr>
          <a:xfrm>
            <a:off x="2172557" y="1123475"/>
            <a:ext cx="5285232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4D5D966-DA36-44E8-8945-AAA86E691024}"/>
              </a:ext>
            </a:extLst>
          </p:cNvPr>
          <p:cNvSpPr txBox="1"/>
          <p:nvPr/>
        </p:nvSpPr>
        <p:spPr>
          <a:xfrm>
            <a:off x="8837131" y="147611"/>
            <a:ext cx="32310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</a:rPr>
              <a:t>CASE STUDY</a:t>
            </a:r>
          </a:p>
        </p:txBody>
      </p:sp>
      <p:pic>
        <p:nvPicPr>
          <p:cNvPr id="8" name="Picture 7" descr="A black and grey logo&#10;&#10;Description automatically generated">
            <a:extLst>
              <a:ext uri="{FF2B5EF4-FFF2-40B4-BE49-F238E27FC236}">
                <a16:creationId xmlns:a16="http://schemas.microsoft.com/office/drawing/2014/main" id="{5D082EA6-79EE-8F2B-B86D-CD1E704AB9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352AC29-6941-7852-836F-5694DB68A1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59" y="1415123"/>
            <a:ext cx="9336043" cy="315163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CF2349-3B60-4624-D0F6-BE727F94BF67}"/>
              </a:ext>
            </a:extLst>
          </p:cNvPr>
          <p:cNvCxnSpPr>
            <a:cxnSpLocks/>
          </p:cNvCxnSpPr>
          <p:nvPr/>
        </p:nvCxnSpPr>
        <p:spPr>
          <a:xfrm>
            <a:off x="2172557" y="1123475"/>
            <a:ext cx="6675120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E6109828-D367-0265-4C46-48D594B0C10C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16" name="Slide Number Placeholder 11">
            <a:extLst>
              <a:ext uri="{FF2B5EF4-FFF2-40B4-BE49-F238E27FC236}">
                <a16:creationId xmlns:a16="http://schemas.microsoft.com/office/drawing/2014/main" id="{A6DEDB38-4FCF-0FE7-55E9-0D5BB9AAE1EA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24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ership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5FCE3FB4-287B-C3E4-BE4A-B032E45D846F}"/>
              </a:ext>
            </a:extLst>
          </p:cNvPr>
          <p:cNvSpPr/>
          <p:nvPr/>
        </p:nvSpPr>
        <p:spPr>
          <a:xfrm>
            <a:off x="0" y="0"/>
            <a:ext cx="4118002" cy="68579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45FA7E0-D016-004A-AE9D-4D10AB22F19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68300" y="192088"/>
            <a:ext cx="2418028" cy="2418027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512D63-5D54-4F80-B668-EC6B376C5F25}"/>
              </a:ext>
            </a:extLst>
          </p:cNvPr>
          <p:cNvSpPr/>
          <p:nvPr/>
        </p:nvSpPr>
        <p:spPr>
          <a:xfrm>
            <a:off x="4732143" y="2827432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0B5118E-5EF2-47DE-8B7F-1A9DB0B71D3D}"/>
              </a:ext>
            </a:extLst>
          </p:cNvPr>
          <p:cNvSpPr/>
          <p:nvPr/>
        </p:nvSpPr>
        <p:spPr>
          <a:xfrm>
            <a:off x="8313425" y="2827432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13B5616-BD6D-4E48-9284-47AF8C9D26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1449" y="3534274"/>
            <a:ext cx="3382195" cy="283475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5E34BE-4715-429E-A057-86CA5BAB50E1}"/>
              </a:ext>
            </a:extLst>
          </p:cNvPr>
          <p:cNvSpPr txBox="1"/>
          <p:nvPr/>
        </p:nvSpPr>
        <p:spPr>
          <a:xfrm>
            <a:off x="9074190" y="2911861"/>
            <a:ext cx="22808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itchFamily="34" charset="0"/>
              </a:rPr>
              <a:t>Industries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B0A01D-6F03-4640-8C43-EA7A931B2981}"/>
              </a:ext>
            </a:extLst>
          </p:cNvPr>
          <p:cNvSpPr txBox="1"/>
          <p:nvPr/>
        </p:nvSpPr>
        <p:spPr>
          <a:xfrm>
            <a:off x="5477572" y="2911861"/>
            <a:ext cx="115156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2400" b="1" cap="all" baseline="0">
                <a:solidFill>
                  <a:schemeClr val="tx1"/>
                </a:solidFill>
                <a:latin typeface="Aptos" panose="020B0004020202020204" pitchFamily="34" charset="0"/>
                <a:cs typeface="Arial" pitchFamily="34" charset="0"/>
              </a:rPr>
              <a:t>Skills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48F010F-66A5-4DEB-BD36-143C89CCD6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27962" y="3534275"/>
            <a:ext cx="3177660" cy="28347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Aft>
                <a:spcPts val="300"/>
              </a:spcAft>
              <a:defRPr sz="12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73660-6C5F-4C77-994E-B5E9937BE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198" y="2979196"/>
            <a:ext cx="3235644" cy="937140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5BD04-E15B-46BF-A27F-6E8A151C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0197" y="3993308"/>
            <a:ext cx="3530652" cy="64493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300"/>
              </a:spcAft>
              <a:buNone/>
              <a:defRPr sz="2000" b="1">
                <a:solidFill>
                  <a:schemeClr val="tx2"/>
                </a:solidFill>
                <a:latin typeface="Aptos" panose="020B0004020202020204" pitchFamily="34" charset="0"/>
              </a:defRPr>
            </a:lvl1pPr>
            <a:lvl2pPr>
              <a:spcBef>
                <a:spcPts val="0"/>
              </a:spcBef>
              <a:spcAft>
                <a:spcPts val="300"/>
              </a:spcAft>
              <a:buNone/>
              <a:defRPr sz="1400">
                <a:latin typeface="+mn-lt"/>
              </a:defRPr>
            </a:lvl2pPr>
            <a:lvl3pPr>
              <a:spcBef>
                <a:spcPts val="0"/>
              </a:spcBef>
              <a:spcAft>
                <a:spcPts val="300"/>
              </a:spcAft>
              <a:buNone/>
              <a:defRPr sz="1200">
                <a:latin typeface="+mn-lt"/>
              </a:defRPr>
            </a:lvl3pPr>
            <a:lvl4pPr>
              <a:spcBef>
                <a:spcPts val="0"/>
              </a:spcBef>
              <a:spcAft>
                <a:spcPts val="300"/>
              </a:spcAft>
              <a:buNone/>
              <a:defRPr sz="1100">
                <a:latin typeface="+mn-lt"/>
              </a:defRPr>
            </a:lvl4pPr>
            <a:lvl5pPr>
              <a:spcBef>
                <a:spcPts val="0"/>
              </a:spcBef>
              <a:spcAft>
                <a:spcPts val="300"/>
              </a:spcAft>
              <a:buNone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 testing it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0E9A75A-7A2F-4FD2-A0CF-61732A489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50593" y="190285"/>
            <a:ext cx="7584829" cy="2257582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  <a:defRPr sz="1600">
                <a:latin typeface="Aptos" panose="020B0004020202020204" pitchFamily="34" charset="0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400">
                <a:latin typeface="Aptos" panose="020B0004020202020204" pitchFamily="34" charset="0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200">
                <a:latin typeface="Aptos" panose="020B0004020202020204" pitchFamily="34" charset="0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100">
                <a:latin typeface="Aptos" panose="020B0004020202020204" pitchFamily="34" charset="0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100"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4A6DB2-AF44-264F-C6C5-207FFDEA2D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8300" y="4743732"/>
            <a:ext cx="3530653" cy="1914525"/>
          </a:xfrm>
        </p:spPr>
        <p:txBody>
          <a:bodyPr>
            <a:normAutofit/>
          </a:bodyPr>
          <a:lstStyle>
            <a:lvl1pPr marL="0" indent="0">
              <a:spcAft>
                <a:spcPts val="300"/>
              </a:spcAft>
              <a:buNone/>
              <a:defRPr sz="1400">
                <a:latin typeface="Aptos" panose="020B0004020202020204" pitchFamily="34" charset="0"/>
              </a:defRPr>
            </a:lvl1pPr>
            <a:lvl2pPr marL="231775" indent="0">
              <a:spcAft>
                <a:spcPts val="300"/>
              </a:spcAft>
              <a:buNone/>
              <a:defRPr sz="1200"/>
            </a:lvl2pPr>
            <a:lvl3pPr marL="457200" indent="0">
              <a:spcAft>
                <a:spcPts val="300"/>
              </a:spcAft>
              <a:buNone/>
              <a:defRPr sz="1100"/>
            </a:lvl3pPr>
            <a:lvl4pPr marL="688975" indent="0">
              <a:spcAft>
                <a:spcPts val="300"/>
              </a:spcAft>
              <a:buNone/>
              <a:defRPr sz="1050"/>
            </a:lvl4pPr>
            <a:lvl5pPr marL="914400" indent="0">
              <a:spcAft>
                <a:spcPts val="300"/>
              </a:spcAft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264A744-CC4E-EB5E-92F8-6863C327AD8A}"/>
              </a:ext>
            </a:extLst>
          </p:cNvPr>
          <p:cNvCxnSpPr/>
          <p:nvPr/>
        </p:nvCxnSpPr>
        <p:spPr>
          <a:xfrm>
            <a:off x="4118002" y="2589174"/>
            <a:ext cx="807399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7B8F3F2-2FA4-5675-BF00-E36AEE632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168" y="2897178"/>
            <a:ext cx="306206" cy="36413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6A16D17-B102-311E-0F97-613A39E7B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834" y="2962870"/>
            <a:ext cx="360113" cy="298730"/>
          </a:xfrm>
          <a:prstGeom prst="rect">
            <a:avLst/>
          </a:prstGeom>
        </p:spPr>
      </p:pic>
      <p:pic>
        <p:nvPicPr>
          <p:cNvPr id="46" name="Picture 45" descr="A black and grey logo&#10;&#10;Description automatically generated">
            <a:extLst>
              <a:ext uri="{FF2B5EF4-FFF2-40B4-BE49-F238E27FC236}">
                <a16:creationId xmlns:a16="http://schemas.microsoft.com/office/drawing/2014/main" id="{E7298E74-B265-5BAF-112A-1AB6620E479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A0E495A0-FC8D-B394-EC9F-018D0E3814C0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01169E87-3326-B830-8446-CAE655ECFCB4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FC3BEAF-F3FB-42D1-B159-2B27AC020A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6611" y="3548727"/>
            <a:ext cx="3474720" cy="2820313"/>
          </a:xfrm>
        </p:spPr>
        <p:txBody>
          <a:bodyPr numCol="2">
            <a:noAutofit/>
          </a:bodyPr>
          <a:lstStyle>
            <a:lvl1pPr>
              <a:spcAft>
                <a:spcPts val="300"/>
              </a:spcAft>
              <a:defRPr sz="1200">
                <a:latin typeface="+mn-lt"/>
              </a:defRPr>
            </a:lvl1pPr>
            <a:lvl2pPr>
              <a:spcAft>
                <a:spcPts val="300"/>
              </a:spcAft>
              <a:defRPr sz="1200">
                <a:latin typeface="+mn-lt"/>
              </a:defRPr>
            </a:lvl2pPr>
            <a:lvl3pPr>
              <a:spcAft>
                <a:spcPts val="300"/>
              </a:spcAft>
              <a:defRPr sz="1200">
                <a:latin typeface="+mn-lt"/>
              </a:defRPr>
            </a:lvl3pPr>
            <a:lvl4pPr>
              <a:spcAft>
                <a:spcPts val="300"/>
              </a:spcAft>
              <a:defRPr sz="1200">
                <a:latin typeface="+mn-lt"/>
              </a:defRPr>
            </a:lvl4pPr>
            <a:lvl5pPr>
              <a:spcAft>
                <a:spcPts val="300"/>
              </a:spcAft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FAD73B-C205-4852-8C5D-F934643E98E3}"/>
              </a:ext>
            </a:extLst>
          </p:cNvPr>
          <p:cNvSpPr/>
          <p:nvPr/>
        </p:nvSpPr>
        <p:spPr>
          <a:xfrm>
            <a:off x="-1" y="0"/>
            <a:ext cx="12190311" cy="24528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FF01E4D-D5CF-47C0-B252-665D9D1B447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6849" y="362061"/>
            <a:ext cx="1709928" cy="1711214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buNone/>
              <a:defRPr sz="105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BD63BD28-9821-4D27-B87A-76A378EB1D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7477" y="3548727"/>
            <a:ext cx="3474720" cy="2820313"/>
          </a:xfrm>
        </p:spPr>
        <p:txBody>
          <a:bodyPr numCol="2">
            <a:noAutofit/>
          </a:bodyPr>
          <a:lstStyle>
            <a:lvl1pPr>
              <a:spcAft>
                <a:spcPts val="300"/>
              </a:spcAft>
              <a:defRPr sz="1200">
                <a:latin typeface="+mn-lt"/>
              </a:defRPr>
            </a:lvl1pPr>
            <a:lvl2pPr>
              <a:spcAft>
                <a:spcPts val="300"/>
              </a:spcAft>
              <a:defRPr sz="1200">
                <a:latin typeface="+mn-lt"/>
              </a:defRPr>
            </a:lvl2pPr>
            <a:lvl3pPr>
              <a:spcAft>
                <a:spcPts val="300"/>
              </a:spcAft>
              <a:defRPr sz="1200">
                <a:latin typeface="+mn-lt"/>
              </a:defRPr>
            </a:lvl3pPr>
            <a:lvl4pPr>
              <a:spcAft>
                <a:spcPts val="300"/>
              </a:spcAft>
              <a:defRPr sz="1200">
                <a:latin typeface="+mn-lt"/>
              </a:defRPr>
            </a:lvl4pPr>
            <a:lvl5pPr>
              <a:spcAft>
                <a:spcPts val="300"/>
              </a:spcAft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FBF4E-B1A9-4E09-8E8D-4CBF731A64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470" y="3548727"/>
            <a:ext cx="3474720" cy="2820313"/>
          </a:xfrm>
        </p:spPr>
        <p:txBody>
          <a:bodyPr numCol="2">
            <a:noAutofit/>
          </a:bodyPr>
          <a:lstStyle>
            <a:lvl1pPr>
              <a:spcAft>
                <a:spcPts val="300"/>
              </a:spcAft>
              <a:defRPr sz="1200">
                <a:latin typeface="+mn-lt"/>
              </a:defRPr>
            </a:lvl1pPr>
            <a:lvl2pPr>
              <a:spcAft>
                <a:spcPts val="300"/>
              </a:spcAft>
              <a:defRPr sz="1200">
                <a:latin typeface="+mn-lt"/>
              </a:defRPr>
            </a:lvl2pPr>
            <a:lvl3pPr>
              <a:spcAft>
                <a:spcPts val="300"/>
              </a:spcAft>
              <a:defRPr sz="1200">
                <a:latin typeface="+mn-lt"/>
              </a:defRPr>
            </a:lvl3pPr>
            <a:lvl4pPr>
              <a:spcAft>
                <a:spcPts val="300"/>
              </a:spcAft>
              <a:defRPr sz="1200">
                <a:latin typeface="+mn-lt"/>
              </a:defRPr>
            </a:lvl4pPr>
            <a:lvl5pPr>
              <a:spcAft>
                <a:spcPts val="300"/>
              </a:spcAft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479CE6A-ADE9-4D90-95CA-EC2EF0CA6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164" y="232606"/>
            <a:ext cx="8934449" cy="615536"/>
          </a:xfrm>
        </p:spPr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0DF01B-78E6-4D4A-8E81-EBB1B2F47E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51100" y="775530"/>
            <a:ext cx="8926513" cy="11652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1600" b="0">
                <a:latin typeface="+mj-lt"/>
              </a:defRPr>
            </a:lvl1pPr>
            <a:lvl2pPr marL="457200" indent="0">
              <a:spcBef>
                <a:spcPts val="0"/>
              </a:spcBef>
              <a:spcAft>
                <a:spcPts val="900"/>
              </a:spcAft>
              <a:buNone/>
              <a:defRPr sz="1400">
                <a:latin typeface="+mj-lt"/>
              </a:defRPr>
            </a:lvl2pPr>
            <a:lvl3pPr marL="914400" indent="0">
              <a:spcBef>
                <a:spcPts val="0"/>
              </a:spcBef>
              <a:spcAft>
                <a:spcPts val="900"/>
              </a:spcAft>
              <a:buNone/>
              <a:defRPr sz="1200">
                <a:latin typeface="+mj-lt"/>
              </a:defRPr>
            </a:lvl3pPr>
            <a:lvl4pPr marL="13716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4pPr>
            <a:lvl5pPr marL="1828800" indent="0">
              <a:spcBef>
                <a:spcPts val="0"/>
              </a:spcBef>
              <a:spcAft>
                <a:spcPts val="900"/>
              </a:spcAft>
              <a:buNone/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490C81-7407-4199-8D6C-3A9C3C95B6C7}"/>
              </a:ext>
            </a:extLst>
          </p:cNvPr>
          <p:cNvCxnSpPr>
            <a:cxnSpLocks/>
          </p:cNvCxnSpPr>
          <p:nvPr/>
        </p:nvCxnSpPr>
        <p:spPr>
          <a:xfrm>
            <a:off x="4076962" y="2791067"/>
            <a:ext cx="0" cy="3604957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0EF0855-337F-42E1-AE8B-654A1CB705F4}"/>
              </a:ext>
            </a:extLst>
          </p:cNvPr>
          <p:cNvCxnSpPr>
            <a:cxnSpLocks/>
          </p:cNvCxnSpPr>
          <p:nvPr/>
        </p:nvCxnSpPr>
        <p:spPr>
          <a:xfrm>
            <a:off x="8127387" y="2791067"/>
            <a:ext cx="0" cy="3604957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179D289-18FA-485A-A2D8-FA27C39F8628}"/>
              </a:ext>
            </a:extLst>
          </p:cNvPr>
          <p:cNvSpPr txBox="1"/>
          <p:nvPr/>
        </p:nvSpPr>
        <p:spPr>
          <a:xfrm>
            <a:off x="1195714" y="2858688"/>
            <a:ext cx="15995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24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Skills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3A4369-309C-40B8-8C69-A8D6EAEB40BF}"/>
              </a:ext>
            </a:extLst>
          </p:cNvPr>
          <p:cNvSpPr/>
          <p:nvPr/>
        </p:nvSpPr>
        <p:spPr>
          <a:xfrm>
            <a:off x="405086" y="2774259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49B4B3-9061-45DF-9AAE-A132B4BBC26F}"/>
              </a:ext>
            </a:extLst>
          </p:cNvPr>
          <p:cNvSpPr txBox="1"/>
          <p:nvPr/>
        </p:nvSpPr>
        <p:spPr>
          <a:xfrm>
            <a:off x="5245761" y="2858688"/>
            <a:ext cx="19375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48640"/>
            <a:r>
              <a:rPr lang="en-US" sz="2400" b="1" i="0" cap="all" baseline="0">
                <a:solidFill>
                  <a:schemeClr val="tx1"/>
                </a:solidFill>
                <a:latin typeface="+mj-lt"/>
                <a:cs typeface="Arial" pitchFamily="34" charset="0"/>
              </a:rPr>
              <a:t>Tools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6EB542-A697-40AD-BE32-4666342B4DE1}"/>
              </a:ext>
            </a:extLst>
          </p:cNvPr>
          <p:cNvSpPr/>
          <p:nvPr/>
        </p:nvSpPr>
        <p:spPr>
          <a:xfrm>
            <a:off x="4450858" y="2774259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D5148B-947A-42ED-852D-D9F8BB79DB90}"/>
              </a:ext>
            </a:extLst>
          </p:cNvPr>
          <p:cNvSpPr txBox="1"/>
          <p:nvPr/>
        </p:nvSpPr>
        <p:spPr>
          <a:xfrm>
            <a:off x="9304859" y="2858688"/>
            <a:ext cx="248205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itchFamily="34" charset="0"/>
              </a:rPr>
              <a:t>Industries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F47965-95D9-4B73-B689-6ED3C95CD303}"/>
              </a:ext>
            </a:extLst>
          </p:cNvPr>
          <p:cNvSpPr/>
          <p:nvPr/>
        </p:nvSpPr>
        <p:spPr>
          <a:xfrm>
            <a:off x="8507030" y="2774259"/>
            <a:ext cx="538190" cy="53819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0F1AB-3C9F-09F1-2E7C-5F6BD0344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587" y="2842168"/>
            <a:ext cx="306206" cy="364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DAAA6-440F-AD34-F77C-BA1F39C89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5" y="2907575"/>
            <a:ext cx="360113" cy="2987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98597B9-6D90-61DB-839D-AA904B3DA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852" y="2899061"/>
            <a:ext cx="368639" cy="298618"/>
          </a:xfrm>
          <a:prstGeom prst="rect">
            <a:avLst/>
          </a:prstGeom>
        </p:spPr>
      </p:pic>
      <p:pic>
        <p:nvPicPr>
          <p:cNvPr id="33" name="Picture 32" descr="A black and grey logo&#10;&#10;Description automatically generated">
            <a:extLst>
              <a:ext uri="{FF2B5EF4-FFF2-40B4-BE49-F238E27FC236}">
                <a16:creationId xmlns:a16="http://schemas.microsoft.com/office/drawing/2014/main" id="{28BFB636-0049-29DB-38B4-8B71769DEF8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307" y="6369040"/>
            <a:ext cx="1059895" cy="214179"/>
          </a:xfrm>
          <a:prstGeom prst="rect">
            <a:avLst/>
          </a:prstGeom>
        </p:spPr>
      </p:pic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1A54DD2B-3651-1C76-68F1-7B33CBC005BF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A9469D6E-850B-E637-F80E-2710C4D456CE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578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3095-9895-09E8-EBAA-6100584874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753" y="2539449"/>
            <a:ext cx="8450495" cy="177910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C73602A2-BC49-892C-9E6D-73500C76F88D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40812B39-9C46-648B-C149-CD9C0633B372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085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DE9D089-B75C-8337-2C27-A04FC9998154}"/>
              </a:ext>
            </a:extLst>
          </p:cNvPr>
          <p:cNvSpPr txBox="1">
            <a:spLocks/>
          </p:cNvSpPr>
          <p:nvPr/>
        </p:nvSpPr>
        <p:spPr>
          <a:xfrm>
            <a:off x="4002138" y="6529613"/>
            <a:ext cx="4187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7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© 2024 Kaizen Analytix LLC   |  All Rights Reserved.  CONFIDENTIAL &amp; PROPRIETARY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6E4C6690-A0B5-9DDF-AEE7-9262D8FDD83B}"/>
              </a:ext>
            </a:extLst>
          </p:cNvPr>
          <p:cNvSpPr txBox="1">
            <a:spLocks/>
          </p:cNvSpPr>
          <p:nvPr/>
        </p:nvSpPr>
        <p:spPr>
          <a:xfrm>
            <a:off x="11669442" y="629356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452812-C10A-4AB2-8074-0CB7DB09664E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9329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1ADD3D-A8CB-4047-897C-0E1F55F25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2202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9607C-634E-4669-BEF4-CEC84AA9E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865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0FC6E-F28C-46F3-BC91-843A9D3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CEB0F-F86D-40EE-B9DF-945463C5D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C4773-7AA7-4DE8-84CE-46B710B7F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57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9524946F-BC0F-4786-997D-B5BD37E685D4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38C2-0ED8-4C75-AC02-420BCE095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09999" y="6485740"/>
            <a:ext cx="4572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4F71-7FA6-4ED0-BB3E-D0473EBD0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1421" y="6299487"/>
            <a:ext cx="376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fld id="{B7C11BB7-BD58-4CFC-B8CF-AF245B3CC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5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1" r:id="rId20"/>
    <p:sldLayoutId id="2147483712" r:id="rId21"/>
    <p:sldLayoutId id="2147483713" r:id="rId22"/>
    <p:sldLayoutId id="2147483714" r:id="rId23"/>
    <p:sldLayoutId id="214748371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574675" indent="-3429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+mj-lt"/>
        <a:buAutoNum type="alphaLcParenR"/>
        <a:defRPr sz="14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+mj-lt"/>
        <a:buAutoNum type="romanLcPeriod"/>
        <a:defRPr sz="12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974725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+mj-lt"/>
        <a:buAutoNum type="romanLcPeriod"/>
        <a:tabLst>
          <a:tab pos="688975" algn="l"/>
        </a:tabLst>
        <a:defRPr sz="11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+mj-lt"/>
        <a:buAutoNum type="romanLcPeriod"/>
        <a:defRPr sz="11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F9C8C55-7C8D-4566-BA58-15908AD63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Status Report</a:t>
            </a:r>
          </a:p>
          <a:p>
            <a:r>
              <a:rPr lang="en-US" dirty="0"/>
              <a:t>Month XX, 2022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F32D58-C428-43C8-A857-0B4A19B07D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[Project Name]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A9ECE3-0260-8099-2E34-E2AB069DA5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F48A5-7351-4503-8EB2-D9846CEE663F}"/>
              </a:ext>
            </a:extLst>
          </p:cNvPr>
          <p:cNvSpPr/>
          <p:nvPr/>
        </p:nvSpPr>
        <p:spPr>
          <a:xfrm>
            <a:off x="2540297" y="357267"/>
            <a:ext cx="1089594" cy="10486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 client logo here</a:t>
            </a:r>
          </a:p>
        </p:txBody>
      </p:sp>
    </p:spTree>
    <p:extLst>
      <p:ext uri="{BB962C8B-B14F-4D97-AF65-F5344CB8AC3E}">
        <p14:creationId xmlns:p14="http://schemas.microsoft.com/office/powerpoint/2010/main" val="237973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9937-1041-47F2-85F5-E6035E16AB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5563"/>
            <a:ext cx="12192000" cy="5127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[Project Name] Status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07F82-0502-4606-A87C-71021801A91F}"/>
              </a:ext>
            </a:extLst>
          </p:cNvPr>
          <p:cNvSpPr txBox="1"/>
          <p:nvPr/>
        </p:nvSpPr>
        <p:spPr>
          <a:xfrm>
            <a:off x="4664864" y="592660"/>
            <a:ext cx="2774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July 23, 2022</a:t>
            </a: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D1EB8DAC-7A79-46E0-B327-FC4B4720DC71}"/>
              </a:ext>
            </a:extLst>
          </p:cNvPr>
          <p:cNvSpPr txBox="1"/>
          <p:nvPr/>
        </p:nvSpPr>
        <p:spPr>
          <a:xfrm>
            <a:off x="6287698" y="1369278"/>
            <a:ext cx="5714865" cy="907780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To Do #1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To Do #2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To Do #3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B80806-1F10-4EA9-A3C3-163675F64768}"/>
              </a:ext>
            </a:extLst>
          </p:cNvPr>
          <p:cNvCxnSpPr>
            <a:cxnSpLocks/>
          </p:cNvCxnSpPr>
          <p:nvPr/>
        </p:nvCxnSpPr>
        <p:spPr>
          <a:xfrm>
            <a:off x="731248" y="1192707"/>
            <a:ext cx="512634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10">
            <a:extLst>
              <a:ext uri="{FF2B5EF4-FFF2-40B4-BE49-F238E27FC236}">
                <a16:creationId xmlns:a16="http://schemas.microsoft.com/office/drawing/2014/main" id="{86DC76ED-1038-4E51-B93F-43F051A70BC9}"/>
              </a:ext>
            </a:extLst>
          </p:cNvPr>
          <p:cNvSpPr txBox="1"/>
          <p:nvPr/>
        </p:nvSpPr>
        <p:spPr>
          <a:xfrm>
            <a:off x="2224099" y="1064547"/>
            <a:ext cx="2403690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Key Accomplishments</a:t>
            </a:r>
            <a:endParaRPr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CA5F4C-9486-4754-ACFA-0B0535126E30}"/>
              </a:ext>
            </a:extLst>
          </p:cNvPr>
          <p:cNvCxnSpPr>
            <a:cxnSpLocks/>
          </p:cNvCxnSpPr>
          <p:nvPr/>
        </p:nvCxnSpPr>
        <p:spPr>
          <a:xfrm>
            <a:off x="6287698" y="1192707"/>
            <a:ext cx="534431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ct 10">
            <a:extLst>
              <a:ext uri="{FF2B5EF4-FFF2-40B4-BE49-F238E27FC236}">
                <a16:creationId xmlns:a16="http://schemas.microsoft.com/office/drawing/2014/main" id="{58983A6F-B2C5-4409-A164-9B631ED6EEA7}"/>
              </a:ext>
            </a:extLst>
          </p:cNvPr>
          <p:cNvSpPr txBox="1"/>
          <p:nvPr/>
        </p:nvSpPr>
        <p:spPr>
          <a:xfrm>
            <a:off x="7151914" y="1064547"/>
            <a:ext cx="3526972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Next Sprint: Top Priorities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14EC00D1-6D7B-4948-A57D-7EC854553A4D}"/>
              </a:ext>
            </a:extLst>
          </p:cNvPr>
          <p:cNvSpPr txBox="1"/>
          <p:nvPr/>
        </p:nvSpPr>
        <p:spPr>
          <a:xfrm>
            <a:off x="777958" y="1363955"/>
            <a:ext cx="5328374" cy="907780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Accomplishment 1</a:t>
            </a: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Accomplishment 2</a:t>
            </a: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Accomplishment 3</a:t>
            </a: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Accomplishment 4</a:t>
            </a:r>
          </a:p>
          <a:p>
            <a:pPr marL="9525">
              <a:spcBef>
                <a:spcPts val="79"/>
              </a:spcBef>
            </a:pPr>
            <a:endParaRPr lang="en-US" sz="11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E5B06AE-F7B6-4090-8083-A1AAB214F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500062"/>
              </p:ext>
            </p:extLst>
          </p:nvPr>
        </p:nvGraphicFramePr>
        <p:xfrm>
          <a:off x="741507" y="4554695"/>
          <a:ext cx="10239682" cy="1554480"/>
        </p:xfrm>
        <a:graphic>
          <a:graphicData uri="http://schemas.openxmlformats.org/drawingml/2006/table">
            <a:tbl>
              <a:tblPr firstRow="1" bandRow="1"/>
              <a:tblGrid>
                <a:gridCol w="4155998">
                  <a:extLst>
                    <a:ext uri="{9D8B030D-6E8A-4147-A177-3AD203B41FA5}">
                      <a16:colId xmlns:a16="http://schemas.microsoft.com/office/drawing/2014/main" val="2796521095"/>
                    </a:ext>
                  </a:extLst>
                </a:gridCol>
                <a:gridCol w="603839">
                  <a:extLst>
                    <a:ext uri="{9D8B030D-6E8A-4147-A177-3AD203B41FA5}">
                      <a16:colId xmlns:a16="http://schemas.microsoft.com/office/drawing/2014/main" val="3438951170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77176771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213337727"/>
                    </a:ext>
                  </a:extLst>
                </a:gridCol>
                <a:gridCol w="3426789">
                  <a:extLst>
                    <a:ext uri="{9D8B030D-6E8A-4147-A177-3AD203B41FA5}">
                      <a16:colId xmlns:a16="http://schemas.microsoft.com/office/drawing/2014/main" val="2906602532"/>
                    </a:ext>
                  </a:extLst>
                </a:gridCol>
              </a:tblGrid>
              <a:tr h="109597"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Milestone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Target Date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FCST Date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Comments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672658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sz="1200" kern="1200" noProof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509029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038830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7245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1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537522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b="0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571492"/>
                  </a:ext>
                </a:extLst>
              </a:tr>
            </a:tbl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9D73EFB6-C565-46EA-A387-BB63435BCD6A}"/>
              </a:ext>
            </a:extLst>
          </p:cNvPr>
          <p:cNvSpPr/>
          <p:nvPr/>
        </p:nvSpPr>
        <p:spPr>
          <a:xfrm>
            <a:off x="5153509" y="5349014"/>
            <a:ext cx="137160" cy="13716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75820B-2062-4921-93FE-50F147789E6A}"/>
              </a:ext>
            </a:extLst>
          </p:cNvPr>
          <p:cNvSpPr/>
          <p:nvPr/>
        </p:nvSpPr>
        <p:spPr>
          <a:xfrm>
            <a:off x="5153508" y="4814105"/>
            <a:ext cx="137160" cy="137160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object 6">
            <a:extLst>
              <a:ext uri="{FF2B5EF4-FFF2-40B4-BE49-F238E27FC236}">
                <a16:creationId xmlns:a16="http://schemas.microsoft.com/office/drawing/2014/main" id="{D92431F6-EDB3-46D2-AE0D-1B5D9440728E}"/>
              </a:ext>
            </a:extLst>
          </p:cNvPr>
          <p:cNvSpPr/>
          <p:nvPr/>
        </p:nvSpPr>
        <p:spPr>
          <a:xfrm flipV="1">
            <a:off x="731248" y="4158995"/>
            <a:ext cx="10900763" cy="76559"/>
          </a:xfrm>
          <a:custGeom>
            <a:avLst/>
            <a:gdLst/>
            <a:ahLst/>
            <a:cxnLst/>
            <a:rect l="l" t="t" r="r" b="b"/>
            <a:pathLst>
              <a:path w="2448560">
                <a:moveTo>
                  <a:pt x="0" y="0"/>
                </a:moveTo>
                <a:lnTo>
                  <a:pt x="2448306" y="0"/>
                </a:lnTo>
              </a:path>
            </a:pathLst>
          </a:custGeom>
          <a:ln w="12700">
            <a:solidFill>
              <a:schemeClr val="accent4"/>
            </a:solidFill>
          </a:ln>
        </p:spPr>
        <p:txBody>
          <a:bodyPr wrap="square" lIns="0" tIns="0" rIns="0" bIns="0" rtlCol="0"/>
          <a:lstStyle/>
          <a:p>
            <a:endParaRPr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A730F65F-5E3B-46C4-9287-A7F7A9D30A67}"/>
              </a:ext>
            </a:extLst>
          </p:cNvPr>
          <p:cNvSpPr txBox="1"/>
          <p:nvPr/>
        </p:nvSpPr>
        <p:spPr>
          <a:xfrm>
            <a:off x="4455231" y="4076090"/>
            <a:ext cx="3281539" cy="25583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1600" b="1" spc="-8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Timeline: Upcoming Milestones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B15957-646E-408B-AA70-4F6B5CC84F69}"/>
              </a:ext>
            </a:extLst>
          </p:cNvPr>
          <p:cNvSpPr/>
          <p:nvPr/>
        </p:nvSpPr>
        <p:spPr>
          <a:xfrm>
            <a:off x="5153508" y="5078570"/>
            <a:ext cx="137160" cy="137160"/>
          </a:xfrm>
          <a:prstGeom prst="ellips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9EF3DB-E62B-48EA-A233-9BFB1C714F5D}"/>
              </a:ext>
            </a:extLst>
          </p:cNvPr>
          <p:cNvSpPr/>
          <p:nvPr/>
        </p:nvSpPr>
        <p:spPr>
          <a:xfrm>
            <a:off x="5153508" y="5894274"/>
            <a:ext cx="137160" cy="137160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42B5B6A-3448-4E9A-B0F5-5104327ACEFD}"/>
              </a:ext>
            </a:extLst>
          </p:cNvPr>
          <p:cNvSpPr/>
          <p:nvPr/>
        </p:nvSpPr>
        <p:spPr>
          <a:xfrm>
            <a:off x="5153508" y="5645820"/>
            <a:ext cx="137160" cy="13716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3FCDC2-3E77-42EF-AD20-AA8D822E9615}"/>
              </a:ext>
            </a:extLst>
          </p:cNvPr>
          <p:cNvSpPr/>
          <p:nvPr/>
        </p:nvSpPr>
        <p:spPr>
          <a:xfrm>
            <a:off x="11188248" y="156156"/>
            <a:ext cx="369611" cy="36961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2F476-CC1D-4A57-A26F-AB7E5A3858BA}"/>
              </a:ext>
            </a:extLst>
          </p:cNvPr>
          <p:cNvSpPr txBox="1"/>
          <p:nvPr/>
        </p:nvSpPr>
        <p:spPr>
          <a:xfrm>
            <a:off x="9510558" y="162701"/>
            <a:ext cx="188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Status: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3D2966-FEB6-4093-861D-45F38CABEE02}"/>
              </a:ext>
            </a:extLst>
          </p:cNvPr>
          <p:cNvCxnSpPr>
            <a:cxnSpLocks/>
          </p:cNvCxnSpPr>
          <p:nvPr/>
        </p:nvCxnSpPr>
        <p:spPr>
          <a:xfrm>
            <a:off x="731248" y="2692051"/>
            <a:ext cx="512634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bject 10">
            <a:extLst>
              <a:ext uri="{FF2B5EF4-FFF2-40B4-BE49-F238E27FC236}">
                <a16:creationId xmlns:a16="http://schemas.microsoft.com/office/drawing/2014/main" id="{64D5D885-DFFC-4EE5-9275-C13EDD8D20D9}"/>
              </a:ext>
            </a:extLst>
          </p:cNvPr>
          <p:cNvSpPr txBox="1"/>
          <p:nvPr/>
        </p:nvSpPr>
        <p:spPr>
          <a:xfrm>
            <a:off x="2550762" y="2563891"/>
            <a:ext cx="1750365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Risks</a:t>
            </a:r>
            <a:endParaRPr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CEB993-F02B-4BDC-98F6-895D24AC595D}"/>
              </a:ext>
            </a:extLst>
          </p:cNvPr>
          <p:cNvCxnSpPr>
            <a:cxnSpLocks/>
          </p:cNvCxnSpPr>
          <p:nvPr/>
        </p:nvCxnSpPr>
        <p:spPr>
          <a:xfrm>
            <a:off x="6287698" y="2692051"/>
            <a:ext cx="534431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bject 10">
            <a:extLst>
              <a:ext uri="{FF2B5EF4-FFF2-40B4-BE49-F238E27FC236}">
                <a16:creationId xmlns:a16="http://schemas.microsoft.com/office/drawing/2014/main" id="{94F41A6B-2E6F-40BC-8E4B-9BE6FF97AC85}"/>
              </a:ext>
            </a:extLst>
          </p:cNvPr>
          <p:cNvSpPr txBox="1"/>
          <p:nvPr/>
        </p:nvSpPr>
        <p:spPr>
          <a:xfrm>
            <a:off x="7841085" y="2563891"/>
            <a:ext cx="2148630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Discussion Topics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object 10">
            <a:extLst>
              <a:ext uri="{FF2B5EF4-FFF2-40B4-BE49-F238E27FC236}">
                <a16:creationId xmlns:a16="http://schemas.microsoft.com/office/drawing/2014/main" id="{BB0A415B-CEAC-4146-B857-E27A3EDBF75E}"/>
              </a:ext>
            </a:extLst>
          </p:cNvPr>
          <p:cNvSpPr txBox="1"/>
          <p:nvPr/>
        </p:nvSpPr>
        <p:spPr>
          <a:xfrm>
            <a:off x="6315140" y="2955685"/>
            <a:ext cx="5714865" cy="1089881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Item #1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Item #2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  <a:p>
            <a:pPr marL="9525">
              <a:spcBef>
                <a:spcPts val="79"/>
              </a:spcBef>
            </a:pPr>
            <a:r>
              <a:rPr lang="en-US" sz="1100" i="1" dirty="0">
                <a:latin typeface="+mj-lt"/>
              </a:rPr>
              <a:t>Note: This items often have additional pages as needed for deeper discussion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</p:txBody>
      </p:sp>
      <p:sp>
        <p:nvSpPr>
          <p:cNvPr id="41" name="object 10">
            <a:extLst>
              <a:ext uri="{FF2B5EF4-FFF2-40B4-BE49-F238E27FC236}">
                <a16:creationId xmlns:a16="http://schemas.microsoft.com/office/drawing/2014/main" id="{BA5BE912-F268-4C7B-9F7F-071622028FB9}"/>
              </a:ext>
            </a:extLst>
          </p:cNvPr>
          <p:cNvSpPr txBox="1"/>
          <p:nvPr/>
        </p:nvSpPr>
        <p:spPr>
          <a:xfrm>
            <a:off x="805400" y="2950362"/>
            <a:ext cx="5328374" cy="907780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180975" indent="-171450">
              <a:spcBef>
                <a:spcPts val="79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Risk #1</a:t>
            </a:r>
          </a:p>
          <a:p>
            <a:pPr marL="180975" indent="-171450">
              <a:spcBef>
                <a:spcPts val="79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Risk #2</a:t>
            </a:r>
          </a:p>
          <a:p>
            <a:pPr marL="180975" indent="-171450">
              <a:spcBef>
                <a:spcPts val="79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Risk #3</a:t>
            </a:r>
          </a:p>
          <a:p>
            <a:pPr marL="9525">
              <a:spcBef>
                <a:spcPts val="79"/>
              </a:spcBef>
            </a:pPr>
            <a:endParaRPr lang="en-US" sz="11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endParaRPr lang="en-US" sz="11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97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9937-1041-47F2-85F5-E6035E16AB3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5563"/>
            <a:ext cx="12192000" cy="5127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[Project Name] Status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07F82-0502-4606-A87C-71021801A91F}"/>
              </a:ext>
            </a:extLst>
          </p:cNvPr>
          <p:cNvSpPr txBox="1"/>
          <p:nvPr/>
        </p:nvSpPr>
        <p:spPr>
          <a:xfrm>
            <a:off x="4664864" y="592660"/>
            <a:ext cx="2774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July 23, 2022</a:t>
            </a: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D1EB8DAC-7A79-46E0-B327-FC4B4720DC71}"/>
              </a:ext>
            </a:extLst>
          </p:cNvPr>
          <p:cNvSpPr txBox="1"/>
          <p:nvPr/>
        </p:nvSpPr>
        <p:spPr>
          <a:xfrm>
            <a:off x="6287698" y="1363955"/>
            <a:ext cx="5714865" cy="72567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Optimization enhancements: PTO Forecast and then Attrition enhancements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Automate data ingestion 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Cloud resource identification for additional support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B80806-1F10-4EA9-A3C3-163675F64768}"/>
              </a:ext>
            </a:extLst>
          </p:cNvPr>
          <p:cNvCxnSpPr>
            <a:cxnSpLocks/>
          </p:cNvCxnSpPr>
          <p:nvPr/>
        </p:nvCxnSpPr>
        <p:spPr>
          <a:xfrm>
            <a:off x="731248" y="1192707"/>
            <a:ext cx="512634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10">
            <a:extLst>
              <a:ext uri="{FF2B5EF4-FFF2-40B4-BE49-F238E27FC236}">
                <a16:creationId xmlns:a16="http://schemas.microsoft.com/office/drawing/2014/main" id="{86DC76ED-1038-4E51-B93F-43F051A70BC9}"/>
              </a:ext>
            </a:extLst>
          </p:cNvPr>
          <p:cNvSpPr txBox="1"/>
          <p:nvPr/>
        </p:nvSpPr>
        <p:spPr>
          <a:xfrm>
            <a:off x="2224099" y="1064547"/>
            <a:ext cx="2403690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Key Accomplishments</a:t>
            </a:r>
            <a:endParaRPr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CA5F4C-9486-4754-ACFA-0B0535126E30}"/>
              </a:ext>
            </a:extLst>
          </p:cNvPr>
          <p:cNvCxnSpPr>
            <a:cxnSpLocks/>
          </p:cNvCxnSpPr>
          <p:nvPr/>
        </p:nvCxnSpPr>
        <p:spPr>
          <a:xfrm>
            <a:off x="6287698" y="1192707"/>
            <a:ext cx="534431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ct 10">
            <a:extLst>
              <a:ext uri="{FF2B5EF4-FFF2-40B4-BE49-F238E27FC236}">
                <a16:creationId xmlns:a16="http://schemas.microsoft.com/office/drawing/2014/main" id="{58983A6F-B2C5-4409-A164-9B631ED6EEA7}"/>
              </a:ext>
            </a:extLst>
          </p:cNvPr>
          <p:cNvSpPr txBox="1"/>
          <p:nvPr/>
        </p:nvSpPr>
        <p:spPr>
          <a:xfrm>
            <a:off x="7151914" y="1064547"/>
            <a:ext cx="3526972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Next Sprint: Top Priorities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14EC00D1-6D7B-4948-A57D-7EC854553A4D}"/>
              </a:ext>
            </a:extLst>
          </p:cNvPr>
          <p:cNvSpPr txBox="1"/>
          <p:nvPr/>
        </p:nvSpPr>
        <p:spPr>
          <a:xfrm>
            <a:off x="777958" y="1363955"/>
            <a:ext cx="5328374" cy="725679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Updated optimization model to include shift-level requirements &amp; attrition</a:t>
            </a: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Built initial attrition model</a:t>
            </a: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Refined wireframe and began building Power BI Dashboards</a:t>
            </a: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Updated model to allow for known hires and terms</a:t>
            </a:r>
          </a:p>
        </p:txBody>
      </p:sp>
      <p:sp>
        <p:nvSpPr>
          <p:cNvPr id="31" name="object 6">
            <a:extLst>
              <a:ext uri="{FF2B5EF4-FFF2-40B4-BE49-F238E27FC236}">
                <a16:creationId xmlns:a16="http://schemas.microsoft.com/office/drawing/2014/main" id="{D92431F6-EDB3-46D2-AE0D-1B5D9440728E}"/>
              </a:ext>
            </a:extLst>
          </p:cNvPr>
          <p:cNvSpPr/>
          <p:nvPr/>
        </p:nvSpPr>
        <p:spPr>
          <a:xfrm flipV="1">
            <a:off x="731248" y="4158996"/>
            <a:ext cx="10900763" cy="59051"/>
          </a:xfrm>
          <a:custGeom>
            <a:avLst/>
            <a:gdLst/>
            <a:ahLst/>
            <a:cxnLst/>
            <a:rect l="l" t="t" r="r" b="b"/>
            <a:pathLst>
              <a:path w="2448560">
                <a:moveTo>
                  <a:pt x="0" y="0"/>
                </a:moveTo>
                <a:lnTo>
                  <a:pt x="2448306" y="0"/>
                </a:lnTo>
              </a:path>
            </a:pathLst>
          </a:custGeom>
          <a:ln w="12700">
            <a:solidFill>
              <a:schemeClr val="accent4"/>
            </a:solidFill>
          </a:ln>
        </p:spPr>
        <p:txBody>
          <a:bodyPr wrap="square" lIns="0" tIns="0" rIns="0" bIns="0" rtlCol="0"/>
          <a:lstStyle/>
          <a:p>
            <a:endParaRPr sz="1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A730F65F-5E3B-46C4-9287-A7F7A9D30A67}"/>
              </a:ext>
            </a:extLst>
          </p:cNvPr>
          <p:cNvSpPr txBox="1"/>
          <p:nvPr/>
        </p:nvSpPr>
        <p:spPr>
          <a:xfrm>
            <a:off x="4455231" y="4076090"/>
            <a:ext cx="3281539" cy="25583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1600" b="1" spc="-8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Timeline: Upcoming Milestones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3FCDC2-3E77-42EF-AD20-AA8D822E9615}"/>
              </a:ext>
            </a:extLst>
          </p:cNvPr>
          <p:cNvSpPr/>
          <p:nvPr/>
        </p:nvSpPr>
        <p:spPr>
          <a:xfrm>
            <a:off x="11188248" y="156156"/>
            <a:ext cx="369611" cy="369611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2F476-CC1D-4A57-A26F-AB7E5A3858BA}"/>
              </a:ext>
            </a:extLst>
          </p:cNvPr>
          <p:cNvSpPr txBox="1"/>
          <p:nvPr/>
        </p:nvSpPr>
        <p:spPr>
          <a:xfrm>
            <a:off x="9510558" y="162701"/>
            <a:ext cx="188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Status: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3D2966-FEB6-4093-861D-45F38CABEE02}"/>
              </a:ext>
            </a:extLst>
          </p:cNvPr>
          <p:cNvCxnSpPr>
            <a:cxnSpLocks/>
          </p:cNvCxnSpPr>
          <p:nvPr/>
        </p:nvCxnSpPr>
        <p:spPr>
          <a:xfrm>
            <a:off x="731248" y="2692051"/>
            <a:ext cx="512634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bject 10">
            <a:extLst>
              <a:ext uri="{FF2B5EF4-FFF2-40B4-BE49-F238E27FC236}">
                <a16:creationId xmlns:a16="http://schemas.microsoft.com/office/drawing/2014/main" id="{64D5D885-DFFC-4EE5-9275-C13EDD8D20D9}"/>
              </a:ext>
            </a:extLst>
          </p:cNvPr>
          <p:cNvSpPr txBox="1"/>
          <p:nvPr/>
        </p:nvSpPr>
        <p:spPr>
          <a:xfrm>
            <a:off x="2550762" y="2563891"/>
            <a:ext cx="1750365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Risks</a:t>
            </a:r>
            <a:endParaRPr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CEB993-F02B-4BDC-98F6-895D24AC595D}"/>
              </a:ext>
            </a:extLst>
          </p:cNvPr>
          <p:cNvCxnSpPr>
            <a:cxnSpLocks/>
          </p:cNvCxnSpPr>
          <p:nvPr/>
        </p:nvCxnSpPr>
        <p:spPr>
          <a:xfrm>
            <a:off x="6287698" y="2692051"/>
            <a:ext cx="534431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bject 10">
            <a:extLst>
              <a:ext uri="{FF2B5EF4-FFF2-40B4-BE49-F238E27FC236}">
                <a16:creationId xmlns:a16="http://schemas.microsoft.com/office/drawing/2014/main" id="{94F41A6B-2E6F-40BC-8E4B-9BE6FF97AC85}"/>
              </a:ext>
            </a:extLst>
          </p:cNvPr>
          <p:cNvSpPr txBox="1"/>
          <p:nvPr/>
        </p:nvSpPr>
        <p:spPr>
          <a:xfrm>
            <a:off x="7841085" y="2563891"/>
            <a:ext cx="2148630" cy="25632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lang="en-US" sz="16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Discussion Topics</a:t>
            </a:r>
            <a:endParaRPr lang="en-US" sz="16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object 10">
            <a:extLst>
              <a:ext uri="{FF2B5EF4-FFF2-40B4-BE49-F238E27FC236}">
                <a16:creationId xmlns:a16="http://schemas.microsoft.com/office/drawing/2014/main" id="{BB0A415B-CEAC-4146-B857-E27A3EDBF75E}"/>
              </a:ext>
            </a:extLst>
          </p:cNvPr>
          <p:cNvSpPr txBox="1"/>
          <p:nvPr/>
        </p:nvSpPr>
        <p:spPr>
          <a:xfrm>
            <a:off x="6315140" y="2955685"/>
            <a:ext cx="5714865" cy="725679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Additional dashboard data needs (See following page)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Requirements sign-off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r>
              <a:rPr lang="en-US" sz="1100" dirty="0">
                <a:latin typeface="+mj-lt"/>
              </a:rPr>
              <a:t>Discuss attendees for attrition review session </a:t>
            </a:r>
          </a:p>
          <a:p>
            <a:pPr marL="238125" indent="-228600">
              <a:spcBef>
                <a:spcPts val="79"/>
              </a:spcBef>
              <a:buFont typeface="+mj-lt"/>
              <a:buAutoNum type="arabicPeriod"/>
            </a:pPr>
            <a:endParaRPr lang="en-US" sz="1100" dirty="0">
              <a:latin typeface="+mj-lt"/>
            </a:endParaRPr>
          </a:p>
        </p:txBody>
      </p:sp>
      <p:sp>
        <p:nvSpPr>
          <p:cNvPr id="41" name="object 10">
            <a:extLst>
              <a:ext uri="{FF2B5EF4-FFF2-40B4-BE49-F238E27FC236}">
                <a16:creationId xmlns:a16="http://schemas.microsoft.com/office/drawing/2014/main" id="{BA5BE912-F268-4C7B-9F7F-071622028FB9}"/>
              </a:ext>
            </a:extLst>
          </p:cNvPr>
          <p:cNvSpPr txBox="1"/>
          <p:nvPr/>
        </p:nvSpPr>
        <p:spPr>
          <a:xfrm>
            <a:off x="805400" y="2950362"/>
            <a:ext cx="5328374" cy="1089881"/>
          </a:xfrm>
          <a:prstGeom prst="rect">
            <a:avLst/>
          </a:prstGeom>
          <a:noFill/>
        </p:spPr>
        <p:txBody>
          <a:bodyPr vert="horz" wrap="square" lIns="0" tIns="10001" rIns="0" bIns="0" rtlCol="0">
            <a:spAutoFit/>
          </a:bodyPr>
          <a:lstStyle/>
          <a:p>
            <a:pPr marL="180975" indent="-171450">
              <a:spcBef>
                <a:spcPts val="79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Decision required on cost data by 7/28 to be incorporated into next sprint iteration. </a:t>
            </a:r>
          </a:p>
          <a:p>
            <a:pPr marL="638175" lvl="1" indent="-171450">
              <a:spcBef>
                <a:spcPts val="79"/>
              </a:spcBef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Impact: Medium</a:t>
            </a:r>
          </a:p>
          <a:p>
            <a:pPr marL="638175" lvl="1" indent="-171450">
              <a:spcBef>
                <a:spcPts val="79"/>
              </a:spcBef>
              <a:buFont typeface="Courier New" panose="02070309020205020404" pitchFamily="49" charset="0"/>
              <a:buChar char="o"/>
            </a:pPr>
            <a:endParaRPr lang="en-US" sz="11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0975" indent="-171450">
              <a:spcBef>
                <a:spcPts val="79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Cloud implementation decision required by 7/30 to avoid project delays</a:t>
            </a:r>
          </a:p>
          <a:p>
            <a:pPr marL="638175" lvl="1" indent="-171450">
              <a:spcBef>
                <a:spcPts val="79"/>
              </a:spcBef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Impact: High</a:t>
            </a:r>
            <a:endParaRPr lang="en-US" sz="11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0975" indent="-171450">
              <a:spcBef>
                <a:spcPts val="79"/>
              </a:spcBef>
              <a:buFont typeface="Wingdings" panose="05000000000000000000" pitchFamily="2" charset="2"/>
              <a:buChar char="ü"/>
            </a:pPr>
            <a:endParaRPr lang="en-US" sz="11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CE975A-3171-4C31-9CF9-B57B6F7765CD}"/>
              </a:ext>
            </a:extLst>
          </p:cNvPr>
          <p:cNvSpPr txBox="1"/>
          <p:nvPr/>
        </p:nvSpPr>
        <p:spPr>
          <a:xfrm>
            <a:off x="1912" y="-4265"/>
            <a:ext cx="2316743" cy="769441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dirty="0"/>
              <a:t>SAMPLE</a:t>
            </a:r>
            <a:endParaRPr lang="en-US" sz="1100" dirty="0">
              <a:cs typeface="Arial"/>
            </a:endParaRPr>
          </a:p>
          <a:p>
            <a:endParaRPr lang="en-US" sz="1100" dirty="0">
              <a:cs typeface="Arial"/>
            </a:endParaRPr>
          </a:p>
          <a:p>
            <a:r>
              <a:rPr lang="en-US" sz="1100" dirty="0">
                <a:cs typeface="Arial"/>
              </a:rPr>
              <a:t>Consider Timeline chart on secondary page 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02F6B04-4EE1-48FD-AB7D-DBFF8055A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424201"/>
              </p:ext>
            </p:extLst>
          </p:nvPr>
        </p:nvGraphicFramePr>
        <p:xfrm>
          <a:off x="741507" y="4554695"/>
          <a:ext cx="10239682" cy="1554480"/>
        </p:xfrm>
        <a:graphic>
          <a:graphicData uri="http://schemas.openxmlformats.org/drawingml/2006/table">
            <a:tbl>
              <a:tblPr firstRow="1" bandRow="1"/>
              <a:tblGrid>
                <a:gridCol w="4155998">
                  <a:extLst>
                    <a:ext uri="{9D8B030D-6E8A-4147-A177-3AD203B41FA5}">
                      <a16:colId xmlns:a16="http://schemas.microsoft.com/office/drawing/2014/main" val="2796521095"/>
                    </a:ext>
                  </a:extLst>
                </a:gridCol>
                <a:gridCol w="603839">
                  <a:extLst>
                    <a:ext uri="{9D8B030D-6E8A-4147-A177-3AD203B41FA5}">
                      <a16:colId xmlns:a16="http://schemas.microsoft.com/office/drawing/2014/main" val="3438951170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1771767715"/>
                    </a:ext>
                  </a:extLst>
                </a:gridCol>
                <a:gridCol w="1026528">
                  <a:extLst>
                    <a:ext uri="{9D8B030D-6E8A-4147-A177-3AD203B41FA5}">
                      <a16:colId xmlns:a16="http://schemas.microsoft.com/office/drawing/2014/main" val="3787689945"/>
                    </a:ext>
                  </a:extLst>
                </a:gridCol>
                <a:gridCol w="3426789">
                  <a:extLst>
                    <a:ext uri="{9D8B030D-6E8A-4147-A177-3AD203B41FA5}">
                      <a16:colId xmlns:a16="http://schemas.microsoft.com/office/drawing/2014/main" val="2906602532"/>
                    </a:ext>
                  </a:extLst>
                </a:gridCol>
              </a:tblGrid>
              <a:tr h="109597"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Milestone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Target Date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FCST Date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ctr" defTabSz="914336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Comments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672658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+mj-lt"/>
                        </a:rPr>
                        <a:t>High-Fidelity dashboard wireframe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sz="1200" kern="1200" noProof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509029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+mj-lt"/>
                        </a:rPr>
                        <a:t>Optimization Results iteration #2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7/26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+mn-cs"/>
                        </a:rPr>
                        <a:t>8/2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Delayed by 1 week due to XYZ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038830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+mj-lt"/>
                        </a:rPr>
                        <a:t>Dashboard POC complete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7/26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7/26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Need response on ABC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07245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+mj-lt"/>
                        </a:rPr>
                        <a:t>Database Set-up (On-Prem)</a:t>
                      </a:r>
                      <a:endParaRPr lang="en-US" sz="1200" b="1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7/16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7/16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537522"/>
                  </a:ext>
                </a:extLst>
              </a:tr>
              <a:tr h="244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+mj-lt"/>
                        </a:rPr>
                        <a:t>Production Dashboard Demo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" lvl="0" indent="0" algn="l" defTabSz="914400" rtl="0" eaLnBrk="1" latinLnBrk="0" hangingPunct="1">
                        <a:spcAft>
                          <a:spcPts val="0"/>
                        </a:spcAft>
                        <a:buSzPct val="100000"/>
                        <a:buFont typeface="Wingdings" pitchFamily="2" charset="2"/>
                        <a:buNone/>
                      </a:pPr>
                      <a:endParaRPr 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8/9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8/9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571492"/>
                  </a:ext>
                </a:extLst>
              </a:tr>
            </a:tbl>
          </a:graphicData>
        </a:graphic>
      </p:graphicFrame>
      <p:sp>
        <p:nvSpPr>
          <p:cNvPr id="35" name="Oval 34">
            <a:extLst>
              <a:ext uri="{FF2B5EF4-FFF2-40B4-BE49-F238E27FC236}">
                <a16:creationId xmlns:a16="http://schemas.microsoft.com/office/drawing/2014/main" id="{6418CBAD-ED54-4C79-8E68-A25171E0D0C9}"/>
              </a:ext>
            </a:extLst>
          </p:cNvPr>
          <p:cNvSpPr/>
          <p:nvPr/>
        </p:nvSpPr>
        <p:spPr>
          <a:xfrm>
            <a:off x="5153983" y="5349014"/>
            <a:ext cx="137160" cy="13716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BBCAEF-5BE3-429D-9DC4-0866D8FD59D8}"/>
              </a:ext>
            </a:extLst>
          </p:cNvPr>
          <p:cNvSpPr/>
          <p:nvPr/>
        </p:nvSpPr>
        <p:spPr>
          <a:xfrm>
            <a:off x="5153982" y="4814105"/>
            <a:ext cx="137160" cy="137160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D2CFD0-A350-4285-9981-B976583646BB}"/>
              </a:ext>
            </a:extLst>
          </p:cNvPr>
          <p:cNvSpPr/>
          <p:nvPr/>
        </p:nvSpPr>
        <p:spPr>
          <a:xfrm>
            <a:off x="5153982" y="5078570"/>
            <a:ext cx="137160" cy="13716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2C8D2F-D252-4765-B034-C4A350C54D63}"/>
              </a:ext>
            </a:extLst>
          </p:cNvPr>
          <p:cNvSpPr/>
          <p:nvPr/>
        </p:nvSpPr>
        <p:spPr>
          <a:xfrm>
            <a:off x="5153982" y="5894274"/>
            <a:ext cx="137160" cy="137160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CDCD93-331E-4568-8D62-42B179670331}"/>
              </a:ext>
            </a:extLst>
          </p:cNvPr>
          <p:cNvSpPr/>
          <p:nvPr/>
        </p:nvSpPr>
        <p:spPr>
          <a:xfrm>
            <a:off x="5153982" y="5645820"/>
            <a:ext cx="137160" cy="137160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30001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 2024">
  <a:themeElements>
    <a:clrScheme name="Custom 8">
      <a:dk1>
        <a:srgbClr val="2E2E2E"/>
      </a:dk1>
      <a:lt1>
        <a:srgbClr val="FFFFFF"/>
      </a:lt1>
      <a:dk2>
        <a:srgbClr val="2E2E2E"/>
      </a:dk2>
      <a:lt2>
        <a:srgbClr val="F2F2F2"/>
      </a:lt2>
      <a:accent1>
        <a:srgbClr val="002F6C"/>
      </a:accent1>
      <a:accent2>
        <a:srgbClr val="F6BE00"/>
      </a:accent2>
      <a:accent3>
        <a:srgbClr val="00A9E0"/>
      </a:accent3>
      <a:accent4>
        <a:srgbClr val="B1B3B3"/>
      </a:accent4>
      <a:accent5>
        <a:srgbClr val="63666A"/>
      </a:accent5>
      <a:accent6>
        <a:srgbClr val="797979"/>
      </a:accent6>
      <a:hlink>
        <a:srgbClr val="00A9E0"/>
      </a:hlink>
      <a:folHlink>
        <a:srgbClr val="002F6C"/>
      </a:folHlink>
    </a:clrScheme>
    <a:fontScheme name="Kaizen Font 2024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 2024" id="{E3EFF59D-E03A-4A2C-BA3F-83C1DB166F72}" vid="{AFA6A252-5B4C-4D86-AE50-27C733ED72E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C95BF735F91048ADBD9A2CFF199E28" ma:contentTypeVersion="8" ma:contentTypeDescription="Create a new document." ma:contentTypeScope="" ma:versionID="c1b12104d5da1460c4528e429eef7b4c">
  <xsd:schema xmlns:xsd="http://www.w3.org/2001/XMLSchema" xmlns:xs="http://www.w3.org/2001/XMLSchema" xmlns:p="http://schemas.microsoft.com/office/2006/metadata/properties" xmlns:ns2="c47b106a-c609-4c9a-b3fd-2225dd77f38c" xmlns:ns3="6270d9f2-8c19-435b-974d-0c40f13323d6" targetNamespace="http://schemas.microsoft.com/office/2006/metadata/properties" ma:root="true" ma:fieldsID="d55862cb55133d252a502e02137980a6" ns2:_="" ns3:_="">
    <xsd:import namespace="c47b106a-c609-4c9a-b3fd-2225dd77f38c"/>
    <xsd:import namespace="6270d9f2-8c19-435b-974d-0c40f13323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7b106a-c609-4c9a-b3fd-2225dd77f3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70d9f2-8c19-435b-974d-0c40f13323d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5E4F4A-31A1-451D-A55F-CC45E0B59C9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6270d9f2-8c19-435b-974d-0c40f13323d6"/>
    <ds:schemaRef ds:uri="c47b106a-c609-4c9a-b3fd-2225dd77f38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9AA011F-3660-4724-9554-F0CA27E73B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9E39C2-636F-46C2-988C-2E738F646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7b106a-c609-4c9a-b3fd-2225dd77f38c"/>
    <ds:schemaRef ds:uri="6270d9f2-8c19-435b-974d-0c40f13323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Kaizen 2022</Template>
  <TotalTime>271</TotalTime>
  <Words>275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Default Theme 2024</vt:lpstr>
      <vt:lpstr>[Project Name]</vt:lpstr>
      <vt:lpstr>[Project Name] Status Report</vt:lpstr>
      <vt:lpstr>[Project Name] Status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Name]</dc:title>
  <dc:creator>Stephanie Bailey</dc:creator>
  <cp:lastModifiedBy>Chase Callaway</cp:lastModifiedBy>
  <cp:revision>6</cp:revision>
  <dcterms:created xsi:type="dcterms:W3CDTF">2022-04-28T20:53:20Z</dcterms:created>
  <dcterms:modified xsi:type="dcterms:W3CDTF">2026-07-06T16:37:08Z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0x010100D0C95BF735F91048ADBD9A2CFF199E28</vt:lpwstr>
  </property>
</Properties>
</file>